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67" r:id="rId5"/>
    <p:sldId id="269" r:id="rId6"/>
    <p:sldId id="271" r:id="rId7"/>
    <p:sldId id="270" r:id="rId8"/>
    <p:sldId id="268" r:id="rId9"/>
    <p:sldId id="277" r:id="rId1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C5D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B331E-F182-4319-ADC7-39FD1ABC4784}" v="43" dt="2025-02-21T17:28:40.2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>
      <p:cViewPr>
        <p:scale>
          <a:sx n="66" d="100"/>
          <a:sy n="66" d="100"/>
        </p:scale>
        <p:origin x="1776" y="8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05ABE-E2A8-42F7-9FBA-0D385168063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B143-7773-425C-A406-8CA85C5D5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9B143-7773-425C-A406-8CA85C5D5EC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5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F243E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F243E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F243E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C5D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29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F243E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22-01-2026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09600"/>
            <a:ext cx="6858000" cy="1295400"/>
          </a:xfrm>
          <a:prstGeom prst="rect">
            <a:avLst/>
          </a:prstGeom>
          <a:solidFill>
            <a:srgbClr val="C5D8F1"/>
          </a:solidFill>
          <a:ln w="25399">
            <a:solidFill>
              <a:srgbClr val="385E88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503555" marR="285115" indent="-213995">
              <a:lnSpc>
                <a:spcPct val="152500"/>
              </a:lnSpc>
              <a:spcBef>
                <a:spcPts val="730"/>
              </a:spcBef>
            </a:pPr>
            <a:r>
              <a:rPr sz="2000" spc="-5" dirty="0"/>
              <a:t>RCC INSTITUTE OF INFORMATION TECHNOLOGY </a:t>
            </a:r>
            <a:r>
              <a:rPr sz="2000" spc="-484" dirty="0"/>
              <a:t> </a:t>
            </a:r>
            <a:r>
              <a:rPr sz="2000" spc="-5" dirty="0"/>
              <a:t>D</a:t>
            </a:r>
            <a:r>
              <a:rPr spc="-5" dirty="0"/>
              <a:t>EPT</a:t>
            </a:r>
            <a:r>
              <a:rPr spc="140" dirty="0"/>
              <a:t> </a:t>
            </a:r>
            <a:r>
              <a:rPr spc="-5" dirty="0"/>
              <a:t>OF</a:t>
            </a:r>
            <a:r>
              <a:rPr spc="140" dirty="0"/>
              <a:t> </a:t>
            </a:r>
            <a:r>
              <a:rPr sz="2000" spc="-5" dirty="0"/>
              <a:t>E</a:t>
            </a:r>
            <a:r>
              <a:rPr spc="-5" dirty="0"/>
              <a:t>LECTRONICS</a:t>
            </a:r>
            <a:r>
              <a:rPr spc="145" dirty="0"/>
              <a:t> </a:t>
            </a:r>
            <a:r>
              <a:rPr spc="-5" dirty="0"/>
              <a:t>AND</a:t>
            </a:r>
            <a:r>
              <a:rPr spc="140" dirty="0"/>
              <a:t> </a:t>
            </a:r>
            <a:r>
              <a:rPr sz="2000" spc="-5" dirty="0"/>
              <a:t>C</a:t>
            </a:r>
            <a:r>
              <a:rPr spc="-5" dirty="0"/>
              <a:t>OMMUNICATION</a:t>
            </a:r>
            <a:r>
              <a:rPr spc="145" dirty="0"/>
              <a:t> </a:t>
            </a:r>
            <a:r>
              <a:rPr sz="2000" spc="-5" dirty="0"/>
              <a:t>E</a:t>
            </a:r>
            <a:r>
              <a:rPr spc="-5" dirty="0"/>
              <a:t>NGINEERING</a:t>
            </a:r>
            <a:endParaRPr sz="2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609600"/>
            <a:ext cx="838199" cy="1295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66800" y="3048000"/>
            <a:ext cx="7620000" cy="3048000"/>
          </a:xfrm>
          <a:custGeom>
            <a:avLst/>
            <a:gdLst/>
            <a:ahLst/>
            <a:cxnLst/>
            <a:rect l="l" t="t" r="r" b="b"/>
            <a:pathLst>
              <a:path w="7620000" h="3048000">
                <a:moveTo>
                  <a:pt x="0" y="0"/>
                </a:moveTo>
                <a:lnTo>
                  <a:pt x="7619999" y="0"/>
                </a:lnTo>
                <a:lnTo>
                  <a:pt x="7619999" y="3047999"/>
                </a:lnTo>
                <a:lnTo>
                  <a:pt x="0" y="30479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385E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74232" y="3482340"/>
            <a:ext cx="7031568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520" indent="-211454">
              <a:lnSpc>
                <a:spcPct val="100000"/>
              </a:lnSpc>
              <a:spcBef>
                <a:spcPts val="100"/>
              </a:spcBef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NAME: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 err="1">
                <a:solidFill>
                  <a:schemeClr val="tx2"/>
                </a:solidFill>
                <a:latin typeface="Times New Roman"/>
                <a:cs typeface="Times New Roman"/>
              </a:rPr>
              <a:t>Sk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Sumit Ahmed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23520" indent="-211454">
              <a:lnSpc>
                <a:spcPct val="100000"/>
              </a:lnSpc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YEAR: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3</a:t>
            </a:r>
            <a:r>
              <a:rPr lang="en-IN" sz="2000" b="1" spc="-5" baseline="30000" dirty="0">
                <a:solidFill>
                  <a:schemeClr val="tx2"/>
                </a:solidFill>
                <a:latin typeface="Times New Roman"/>
                <a:cs typeface="Times New Roman"/>
              </a:rPr>
              <a:t>rd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23520" indent="-211454">
              <a:lnSpc>
                <a:spcPct val="100000"/>
              </a:lnSpc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SEM: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6</a:t>
            </a:r>
            <a:r>
              <a:rPr lang="en-IN" sz="2000" b="1" spc="-5" baseline="30000" dirty="0">
                <a:solidFill>
                  <a:schemeClr val="tx2"/>
                </a:solidFill>
                <a:latin typeface="Times New Roman"/>
                <a:cs typeface="Times New Roman"/>
              </a:rPr>
              <a:t>th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23520" indent="-211454">
              <a:lnSpc>
                <a:spcPct val="100000"/>
              </a:lnSpc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CLASS</a:t>
            </a:r>
            <a:r>
              <a:rPr sz="2000" b="1" spc="-3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ROLL</a:t>
            </a:r>
            <a:r>
              <a:rPr sz="2000" b="1" spc="-30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NUMBER: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ECE2023065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23520" indent="-211454">
              <a:lnSpc>
                <a:spcPct val="100000"/>
              </a:lnSpc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UNIVERSITY</a:t>
            </a:r>
            <a:r>
              <a:rPr sz="2000" b="1" spc="-4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ROLL</a:t>
            </a:r>
            <a:r>
              <a:rPr sz="2000" b="1" spc="-4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NUMBER: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11700323087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23520" indent="-211454"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PAPER</a:t>
            </a:r>
            <a:r>
              <a:rPr sz="2000" b="1" spc="-50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NAME: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Computer Network</a:t>
            </a:r>
            <a:endParaRPr lang="en-IN" sz="2000" b="1" spc="-5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11454">
              <a:lnSpc>
                <a:spcPct val="100000"/>
              </a:lnSpc>
              <a:buSzPct val="95000"/>
              <a:buFont typeface="Segoe UI Symbol"/>
              <a:buChar char="❑"/>
              <a:tabLst>
                <a:tab pos="224154" algn="l"/>
              </a:tabLst>
            </a:pP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PAPER</a:t>
            </a:r>
            <a:r>
              <a:rPr sz="2000" b="1" spc="-50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CODE:</a:t>
            </a:r>
            <a:r>
              <a:rPr lang="en-IN" sz="2000" b="1" spc="-5" dirty="0">
                <a:solidFill>
                  <a:srgbClr val="0F243E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EC602</a:t>
            </a:r>
            <a:endParaRPr sz="20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800" y="2209800"/>
            <a:ext cx="7620000" cy="457200"/>
          </a:xfrm>
          <a:prstGeom prst="rect">
            <a:avLst/>
          </a:prstGeom>
          <a:solidFill>
            <a:srgbClr val="C5D8F1"/>
          </a:solidFill>
          <a:ln w="25399">
            <a:solidFill>
              <a:srgbClr val="385E88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CA-1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PRESENTATION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7BBE2-6B54-124C-25A1-3ACBB157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304800"/>
            <a:ext cx="8229600" cy="430887"/>
          </a:xfrm>
        </p:spPr>
        <p:txBody>
          <a:bodyPr/>
          <a:lstStyle/>
          <a:p>
            <a:pPr algn="ctr"/>
            <a:r>
              <a:rPr lang="en-US" sz="2800" u="sng" dirty="0"/>
              <a:t>OSI layer structure</a:t>
            </a:r>
            <a:endParaRPr lang="en-IN" sz="2800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E0FAA-D503-2F95-87F0-5D82FD352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752600"/>
            <a:ext cx="7387166" cy="615553"/>
          </a:xfrm>
        </p:spPr>
        <p:txBody>
          <a:bodyPr/>
          <a:lstStyle/>
          <a:p>
            <a:pPr algn="ctr"/>
            <a:r>
              <a:rPr lang="en-US" sz="2400" b="1" u="sng" dirty="0"/>
              <a:t>Content</a:t>
            </a:r>
          </a:p>
          <a:p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FCD6F-7578-F437-E13B-005B4B83D671}"/>
              </a:ext>
            </a:extLst>
          </p:cNvPr>
          <p:cNvSpPr txBox="1"/>
          <p:nvPr/>
        </p:nvSpPr>
        <p:spPr>
          <a:xfrm>
            <a:off x="1255183" y="2667000"/>
            <a:ext cx="670560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is the OSI Model?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Layered Approach: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Why do we split it up?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7 Layers: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Top-Down Walkthrough.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Analogy: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"Letter Writing" Concept.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Flow: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Encapsulation &amp; Decapsulation.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OSI vs. TCP/IP.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5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C7092-E64F-742B-83E8-E3BAE2EC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369332"/>
          </a:xfrm>
        </p:spPr>
        <p:txBody>
          <a:bodyPr/>
          <a:lstStyle/>
          <a:p>
            <a:pPr algn="ctr"/>
            <a:r>
              <a:rPr lang="en-US" sz="2400" dirty="0"/>
              <a:t>What is the OSI Model?</a:t>
            </a:r>
            <a:endParaRPr lang="en-IN" sz="2400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92838C-44A9-3DFE-0F21-E71C1066E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7866" y="2057400"/>
            <a:ext cx="4495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The Open Systems Interconnection (OSI) model is a theoretical framework that describes how data flows between computers.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Purpose: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divides the complex problem of networking into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seven smaller, manageable problems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This separation is called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"Layering"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It serves as a standard so different computer systems can communicate.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773E0-C03B-0AA3-B2D3-6AADCB86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31960"/>
            <a:ext cx="428413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7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8154-959E-06C1-83B2-CA0FBB4A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492443"/>
          </a:xfrm>
        </p:spPr>
        <p:txBody>
          <a:bodyPr/>
          <a:lstStyle/>
          <a:p>
            <a:pPr algn="ctr"/>
            <a:r>
              <a:rPr lang="en-US" sz="3200" u="sng" dirty="0"/>
              <a:t>The "Letter Writing" Analogy (Upper Layers)</a:t>
            </a:r>
            <a:endParaRPr lang="en-IN" sz="3200" u="sng" dirty="0"/>
          </a:p>
        </p:txBody>
      </p:sp>
      <p:sp>
        <p:nvSpPr>
          <p:cNvPr id="5" name="AutoShape 3" descr="3D surface plot and heatmap of Laplace potential representing steady-state heat conduction">
            <a:extLst>
              <a:ext uri="{FF2B5EF4-FFF2-40B4-BE49-F238E27FC236}">
                <a16:creationId xmlns:a16="http://schemas.microsoft.com/office/drawing/2014/main" id="{46113D54-9A6F-4DF1-3067-E3CC87238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AFB0E-0429-6AEB-6406-8877A7F6381E}"/>
              </a:ext>
            </a:extLst>
          </p:cNvPr>
          <p:cNvSpPr txBox="1"/>
          <p:nvPr/>
        </p:nvSpPr>
        <p:spPr>
          <a:xfrm>
            <a:off x="800100" y="2057400"/>
            <a:ext cx="723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understand the layers, let's use the analogy from our lecture notes: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Sending a Letter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7: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-&gt;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"You write the letter."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is the user interaction phase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6: Presentation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dirty="0">
                <a:latin typeface="Google Sans Text"/>
              </a:rPr>
              <a:t>-&gt;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"You write in English."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ensures the format (language/syntax) is understood by the receiver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5: Session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dirty="0">
                <a:latin typeface="Google Sans Text"/>
              </a:rPr>
              <a:t>-&gt;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"You arrange a meeting."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This establishes the start and end of the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57080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D281-F7B8-8FC8-BC2F-2D67B934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430887"/>
          </a:xfrm>
        </p:spPr>
        <p:txBody>
          <a:bodyPr/>
          <a:lstStyle/>
          <a:p>
            <a:pPr algn="ctr"/>
            <a:r>
              <a:rPr lang="en-US" sz="2800" u="sng" dirty="0"/>
              <a:t>The "Letter Writing" Analogy (Lower Layers)</a:t>
            </a:r>
            <a:endParaRPr lang="en-IN" sz="2800" u="sng" dirty="0"/>
          </a:p>
        </p:txBody>
      </p:sp>
      <p:sp>
        <p:nvSpPr>
          <p:cNvPr id="5" name="AutoShape 5" descr="Uploaded image">
            <a:extLst>
              <a:ext uri="{FF2B5EF4-FFF2-40B4-BE49-F238E27FC236}">
                <a16:creationId xmlns:a16="http://schemas.microsoft.com/office/drawing/2014/main" id="{05171AF3-29CB-8CB0-E7CC-FA8D15B25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D74BF-EE1C-9559-E4F2-741BE8587423}"/>
              </a:ext>
            </a:extLst>
          </p:cNvPr>
          <p:cNvSpPr txBox="1"/>
          <p:nvPr/>
        </p:nvSpPr>
        <p:spPr>
          <a:xfrm>
            <a:off x="1409700" y="1983938"/>
            <a:ext cx="6629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4: Transport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&lt;-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"You choose the delivery speed."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Deciding between fast delivery (UDP) or safe/registered delivery (TCP)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3: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dirty="0">
                <a:latin typeface="Google Sans Text"/>
              </a:rPr>
              <a:t>&lt;-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"The postal system finds the route."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Routing the letter to the correct address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2: Data Link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dirty="0">
                <a:latin typeface="Google Sans Text"/>
              </a:rPr>
              <a:t>&lt;-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"The postal worker ensures delivery."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Local delivery to the specific mailbox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Layer 1: Physical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US" altLang="en-US" dirty="0">
                <a:latin typeface="Google Sans Text"/>
              </a:rPr>
              <a:t>&lt;-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"The letter moves via road or air."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actual physical movement of data (cables, Wi-Fi)</a:t>
            </a:r>
          </a:p>
        </p:txBody>
      </p:sp>
    </p:spTree>
    <p:extLst>
      <p:ext uri="{BB962C8B-B14F-4D97-AF65-F5344CB8AC3E}">
        <p14:creationId xmlns:p14="http://schemas.microsoft.com/office/powerpoint/2010/main" val="424222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C906-6573-318D-ACBE-37995A27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30887"/>
          </a:xfrm>
        </p:spPr>
        <p:txBody>
          <a:bodyPr/>
          <a:lstStyle/>
          <a:p>
            <a:pPr algn="ctr"/>
            <a:r>
              <a:rPr lang="en-IN" sz="2800" u="sng" dirty="0"/>
              <a:t>How Data Moves (Encapsulation)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4ABB4-AD1F-8486-A6B0-BC823B733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050" y="1057867"/>
            <a:ext cx="7581900" cy="1938992"/>
          </a:xfrm>
        </p:spPr>
        <p:txBody>
          <a:bodyPr/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/>
              <a:t>🔹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Going Down: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As data moves from Application to Physical, each layer adds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"Header"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(meta-data). This is like putting the letter in an envelope, then stamping it.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Going Up: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When the receiver gets it, they strip away these headers layer by layer to get the original message.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C41B9-CB36-4DE4-3D94-3D21420C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895600"/>
            <a:ext cx="5638800" cy="365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4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CE39CF4-FACC-2DEE-A129-261FC93A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81000"/>
            <a:ext cx="8229600" cy="496739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sz="2400" b="1" u="sng" dirty="0"/>
              <a:t>Comparison - OSI vs. TCP/IP</a:t>
            </a:r>
            <a:endParaRPr lang="en-IN" b="1" u="sng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1BA4AF-3632-DACD-81FA-A5F149050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24772"/>
              </p:ext>
            </p:extLst>
          </p:nvPr>
        </p:nvGraphicFramePr>
        <p:xfrm>
          <a:off x="457200" y="256032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04182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5668162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1252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Feature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OSI Model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TCP/IP Model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80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Layers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7 Layers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4 Layers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108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Focus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Theoretical / Learning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Practical / Real-World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866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Usage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Understanding concepts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Actual Internet (HTTP, IP) 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834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C60965E-0D56-A9F3-7E7A-DBC94A25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3" y="1828800"/>
            <a:ext cx="812581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While OSI is 7 layers, the practical model we use for the Internet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TCP/IP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(4 Layers)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561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2ED47D4-133A-3408-9CF8-5606A914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2485"/>
            <a:ext cx="8229600" cy="430887"/>
          </a:xfrm>
        </p:spPr>
        <p:txBody>
          <a:bodyPr/>
          <a:lstStyle/>
          <a:p>
            <a:pPr algn="ctr"/>
            <a:r>
              <a:rPr lang="en-US" sz="2800" u="sng" dirty="0"/>
              <a:t>Why Use a Layered Architecture?</a:t>
            </a:r>
            <a:endParaRPr lang="en-IN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0DD37-2B47-8622-CFE2-32F463CE46C7}"/>
              </a:ext>
            </a:extLst>
          </p:cNvPr>
          <p:cNvSpPr txBox="1"/>
          <p:nvPr/>
        </p:nvSpPr>
        <p:spPr>
          <a:xfrm>
            <a:off x="304800" y="1828800"/>
            <a:ext cx="411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breaks networking into smaller pieces that are easier to design and troubleshoot.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we want to upgrade the hardware (Physical Layer), we don't have to rewrite the Application software (Layer 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It's easier to find errors. (e.g., Is the cable broken? Or is the server down?)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70989-2281-2896-0CD0-9D72390CE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711" y="1447800"/>
            <a:ext cx="4199418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4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D41C-D24B-0C82-A59B-73E85193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3EDE-B53F-C76C-F921-50A03426D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8229600" cy="430887"/>
          </a:xfrm>
        </p:spPr>
        <p:txBody>
          <a:bodyPr/>
          <a:lstStyle/>
          <a:p>
            <a:pPr algn="ctr"/>
            <a:r>
              <a:rPr lang="en-IN" sz="2800" b="1" u="sng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73F29-9C35-3A7C-897D-2C194D4C802E}"/>
              </a:ext>
            </a:extLst>
          </p:cNvPr>
          <p:cNvSpPr txBox="1"/>
          <p:nvPr/>
        </p:nvSpPr>
        <p:spPr>
          <a:xfrm>
            <a:off x="381000" y="3657600"/>
            <a:ext cx="8534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   </a:t>
            </a:r>
            <a:r>
              <a:rPr lang="en-IN" sz="2800" b="1" u="sng" dirty="0"/>
              <a:t>References</a:t>
            </a:r>
          </a:p>
          <a:p>
            <a:pPr algn="ctr">
              <a:buNone/>
            </a:pPr>
            <a:endParaRPr lang="en-IN" sz="2800" b="1" u="sng" dirty="0"/>
          </a:p>
          <a:p>
            <a:pPr algn="ctr">
              <a:buNone/>
            </a:pPr>
            <a:endParaRPr lang="en-IN" sz="2800" b="1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4CCE13-A7AD-BE5D-3512-C9A47FA9F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1482"/>
            <a:ext cx="24237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15539B-A94B-5A24-F45C-16F3AA81D824}"/>
              </a:ext>
            </a:extLst>
          </p:cNvPr>
          <p:cNvSpPr txBox="1"/>
          <p:nvPr/>
        </p:nvSpPr>
        <p:spPr>
          <a:xfrm>
            <a:off x="869156" y="4385786"/>
            <a:ext cx="74056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Lecture Notes:</a:t>
            </a:r>
            <a:r>
              <a:rPr lang="en-US" altLang="en-US" sz="1600" dirty="0">
                <a:latin typeface="Arial" panose="020B0604020202020204" pitchFamily="34" charset="0"/>
              </a:rPr>
              <a:t> Dr. Sujoy Mondal, Dept. of ECE, RCCIIT - </a:t>
            </a:r>
            <a:r>
              <a:rPr lang="en-US" altLang="en-US" sz="1600" i="1" dirty="0">
                <a:latin typeface="Arial" panose="020B0604020202020204" pitchFamily="34" charset="0"/>
              </a:rPr>
              <a:t>"Computer Network: Introduction"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Textbook:</a:t>
            </a:r>
            <a:r>
              <a:rPr lang="en-US" altLang="en-US" sz="1600" dirty="0">
                <a:latin typeface="Arial" panose="020B0604020202020204" pitchFamily="34" charset="0"/>
              </a:rPr>
              <a:t> B. A. Forouzan, </a:t>
            </a:r>
            <a:r>
              <a:rPr lang="en-US" altLang="en-US" sz="1600" i="1" dirty="0">
                <a:latin typeface="Arial" panose="020B0604020202020204" pitchFamily="34" charset="0"/>
              </a:rPr>
              <a:t>"Data Communications and Networking"</a:t>
            </a:r>
            <a:r>
              <a:rPr lang="en-US" altLang="en-US" sz="1600" dirty="0">
                <a:latin typeface="Arial" panose="020B0604020202020204" pitchFamily="34" charset="0"/>
              </a:rPr>
              <a:t> (3rd Ed.), TMH.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Textbook:</a:t>
            </a:r>
            <a:r>
              <a:rPr lang="en-US" altLang="en-US" sz="1600" dirty="0">
                <a:latin typeface="Arial" panose="020B0604020202020204" pitchFamily="34" charset="0"/>
              </a:rPr>
              <a:t> W. Stallings, </a:t>
            </a:r>
            <a:r>
              <a:rPr lang="en-US" altLang="en-US" sz="1600" i="1" dirty="0">
                <a:latin typeface="Arial" panose="020B0604020202020204" pitchFamily="34" charset="0"/>
              </a:rPr>
              <a:t>"Data and Computer Communications"</a:t>
            </a:r>
            <a:r>
              <a:rPr lang="en-US" altLang="en-US" sz="1600" dirty="0">
                <a:latin typeface="Arial" panose="020B0604020202020204" pitchFamily="34" charset="0"/>
              </a:rPr>
              <a:t> (5th Ed.), PHI.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Online Resource:</a:t>
            </a:r>
            <a:r>
              <a:rPr lang="en-US" altLang="en-US" sz="1600" dirty="0">
                <a:latin typeface="Arial" panose="020B0604020202020204" pitchFamily="34" charset="0"/>
              </a:rPr>
              <a:t> NPTEL Course - </a:t>
            </a:r>
            <a:r>
              <a:rPr lang="en-US" altLang="en-US" sz="1600" i="1" dirty="0">
                <a:latin typeface="Arial" panose="020B0604020202020204" pitchFamily="34" charset="0"/>
              </a:rPr>
              <a:t>Computer Networks and Internet Protocol</a:t>
            </a:r>
            <a:r>
              <a:rPr lang="en-US" altLang="en-US" sz="1600" dirty="0">
                <a:latin typeface="Arial" panose="020B0604020202020204" pitchFamily="34" charset="0"/>
              </a:rPr>
              <a:t>, IIT Kharagpur.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F307A-E2DB-4EDE-394B-17F99B8B785C}"/>
              </a:ext>
            </a:extLst>
          </p:cNvPr>
          <p:cNvSpPr txBox="1"/>
          <p:nvPr/>
        </p:nvSpPr>
        <p:spPr>
          <a:xfrm>
            <a:off x="580542" y="1143000"/>
            <a:ext cx="81353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OSI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the universal standard for how different systems communicate.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moves data from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(Software) down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(Hardware) using specific protocols at every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"OSI is for learning how the network works; TCP/IP is for actually building the network".</a:t>
            </a:r>
          </a:p>
        </p:txBody>
      </p:sp>
    </p:spTree>
    <p:extLst>
      <p:ext uri="{BB962C8B-B14F-4D97-AF65-F5344CB8AC3E}">
        <p14:creationId xmlns:p14="http://schemas.microsoft.com/office/powerpoint/2010/main" val="3184908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11700323087</Template>
  <TotalTime>84</TotalTime>
  <Words>694</Words>
  <Application>Microsoft Office PowerPoint</Application>
  <PresentationFormat>On-screen Show (4:3)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Google Sans Text</vt:lpstr>
      <vt:lpstr>Segoe UI Symbol</vt:lpstr>
      <vt:lpstr>Times New Roman</vt:lpstr>
      <vt:lpstr>Office Theme</vt:lpstr>
      <vt:lpstr>RCC INSTITUTE OF INFORMATION TECHNOLOGY  DEPT OF ELECTRONICS AND COMMUNICATION ENGINEERING</vt:lpstr>
      <vt:lpstr>OSI layer structure</vt:lpstr>
      <vt:lpstr>What is the OSI Model?</vt:lpstr>
      <vt:lpstr>The "Letter Writing" Analogy (Upper Layers)</vt:lpstr>
      <vt:lpstr>The "Letter Writing" Analogy (Lower Layers)</vt:lpstr>
      <vt:lpstr>How Data Moves (Encapsulation)</vt:lpstr>
      <vt:lpstr>PowerPoint Presentation</vt:lpstr>
      <vt:lpstr>Why Use a Layered Architecture?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PUNISHER</dc:creator>
  <cp:lastModifiedBy>THE PUNISHER</cp:lastModifiedBy>
  <cp:revision>1</cp:revision>
  <dcterms:created xsi:type="dcterms:W3CDTF">2026-01-22T16:49:45Z</dcterms:created>
  <dcterms:modified xsi:type="dcterms:W3CDTF">2026-01-22T18:13:55Z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